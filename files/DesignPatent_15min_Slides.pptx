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55680" cy="0"/>
          </a:xfrm>
          <a:prstGeom prst="line">
            <a:avLst/>
          </a:prstGeom>
          <a:noFill/>
          <a:ln w="7620">
            <a:solidFill>
              <a:srgbClr val="C9CD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49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35"/>
                </a:solidFill>
              </a:rPr>
              <a:t>COMPUTER VISION FOR PRIOR-ART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6187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111"/>
                </a:solidFill>
              </a:rPr>
              <a:t>Design Patent Similarity with ArcFace Metric Learning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E6470"/>
                </a:solidFill>
              </a:rPr>
              <a:t>Hui-Ching Chuang · Yueh-Heng Wu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3584448"/>
            <a:ext cx="182880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02336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11111"/>
                </a:solidFill>
              </a:rPr>
              <a:t>Patent identity—not product category—is the right supervision for finding visually similar designs.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58368" y="5852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E6470"/>
                </a:solidFill>
              </a:rPr>
              <a:t>15-MINUTE RESEARCH TALK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Prior-art search is a near-duplicate problem</a:t>
            </a:r>
            <a:endParaRPr lang="en-US" sz="2800" dirty="0"/>
          </a:p>
        </p:txBody>
      </p:sp>
      <p:pic>
        <p:nvPicPr>
          <p:cNvPr id="4" name="Image 0" descr="C:\Dropbox\Apps\Overleaf\ACM Conference Proceedings Primary Article Template\figure\Compare_D0807117_67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690372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1417320"/>
            <a:ext cx="6903720" cy="443484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18120" y="1417320"/>
            <a:ext cx="370332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18120" y="1417320"/>
            <a:ext cx="64008" cy="12801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19288" y="15727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The retrieval target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19288" y="1947672"/>
            <a:ext cx="3374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 and minor drawing changes can belong to the same patented design.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818120" y="2926080"/>
            <a:ext cx="370332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18120" y="2926080"/>
            <a:ext cx="64008" cy="128016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19288" y="308152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The failure mode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19288" y="3456432"/>
            <a:ext cx="3374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Category similarity is too coarse: two chairs can be legally and visually distinct.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18120" y="4434840"/>
            <a:ext cx="370332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18120" y="4434840"/>
            <a:ext cx="64008" cy="128016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19288" y="459028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The research question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019288" y="4965192"/>
            <a:ext cx="3374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Can metric learning organize drawings around patent identity at national scale?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Design Patent Similarity with ArcFace Metric Learning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national-scale corpus makes the task realistic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834,168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US design patents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00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016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5.20M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3016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drawing images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6364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141732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1976–2025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6480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coverage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98280" y="1417320"/>
            <a:ext cx="24688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1732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9448" y="15819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338,436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299448" y="21305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extended-gallery images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1792" y="31089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Train / validation / retrieval split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0080" y="3749040"/>
            <a:ext cx="7040880" cy="640080"/>
          </a:xfrm>
          <a:prstGeom prst="rect">
            <a:avLst/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0" y="3749040"/>
            <a:ext cx="1234440" cy="640080"/>
          </a:xfrm>
          <a:prstGeom prst="rect">
            <a:avLst/>
          </a:prstGeom>
          <a:solidFill>
            <a:srgbClr val="AFCDE7"/>
          </a:solidFill>
          <a:ln w="12700">
            <a:solidFill>
              <a:srgbClr val="AFCD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15400" y="3749040"/>
            <a:ext cx="2606040" cy="640080"/>
          </a:xfrm>
          <a:prstGeom prst="rect">
            <a:avLst/>
          </a:prstGeom>
          <a:solidFill>
            <a:srgbClr val="FFCEBA"/>
          </a:solidFill>
          <a:ln w="12700">
            <a:solidFill>
              <a:srgbClr val="FFCEB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394106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128,888 training patents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90688" y="3941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22,746 validation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62288" y="394106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46,179 extended-gallery patents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The extended gallery is 8.7× larger than the standard gallery—closer to production retrieval.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and split statistics reported in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 IDs become the metric-learning signal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54203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480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626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057400"/>
            <a:ext cx="187452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2395728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Patent drawing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22376" y="295351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26080" y="205740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2395728"/>
            <a:ext cx="180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ConvNeXtV2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054096" y="2953512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visual backbone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32120" y="205740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0136" y="2395728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L2 embedding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660136" y="2953512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64–256 dimensions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57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1EB"/>
          </a:solidFill>
          <a:ln w="1524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74736" y="2395728"/>
            <a:ext cx="3218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ArcFace objective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174736" y="2953512"/>
            <a:ext cx="3218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pull same-patent views together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push different patents apart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9728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7280" y="4663440"/>
            <a:ext cx="64008" cy="9601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9844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Training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9844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Scale 30 · angular margin 0.50 · 30 epochs · effective batch ≈512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9360" y="4663440"/>
            <a:ext cx="64008" cy="96012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Retrieval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1052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Cosine search, then optional query expansion or graph diffusion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 and training protocol from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and backbone capacity both matter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5532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47599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4668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77240" y="38963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3804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30327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941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0.6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1691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0777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0.8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77240" y="3271545"/>
            <a:ext cx="1143000" cy="2352015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015513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0.5447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64px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487168" y="2491283"/>
            <a:ext cx="1143000" cy="313227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41448" y="223525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0.7254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22576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128px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97096" y="2085823"/>
            <a:ext cx="1143000" cy="353773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51376" y="182979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0.8193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32504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07024" y="4145940"/>
            <a:ext cx="1143000" cy="14776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61304" y="38899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0.3422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42432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616952" y="3958539"/>
            <a:ext cx="1143000" cy="1665021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3702507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0.3856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52360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ResNet-50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326880" y="3629076"/>
            <a:ext cx="1143000" cy="199448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0" y="33730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0.4619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16228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ResNet-152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052560" y="1389888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6568" y="1453896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BEST: 0.8193 mAP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mean average precision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gain survives a much larger search gallery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Standard Gallery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Extended Gallery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00200" y="2331720"/>
            <a:ext cx="3246394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602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0.8193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0020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00200" y="3410712"/>
            <a:ext cx="1489862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070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0.3760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60920" y="2331720"/>
            <a:ext cx="2572786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97714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0.6493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6092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60920" y="3410712"/>
            <a:ext cx="1038149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3077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0.2620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6092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6868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0.9312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29184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0.9906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62940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0.8088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0.9711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256px ConvNeXtV2-Tiny vs. PatentNet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embedding learns identity—not just taxonomy</a:t>
            </a:r>
            <a:endParaRPr lang="en-US" sz="2800" dirty="0"/>
          </a:p>
        </p:txBody>
      </p:sp>
      <p:pic>
        <p:nvPicPr>
          <p:cNvPr id="4" name="Image 0" descr="C:\Dropbox\Apps\Overleaf\ACM Conference Proceedings Primary Article Template\figure\Hierarchical_Cosin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5236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45236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75320" y="146304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75320" y="146304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76488" y="16276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0.617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476488" y="21762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median: same patent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75320" y="288036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75320" y="288036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76488" y="304495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0.013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476488" y="35935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same subclass, other patent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275320" y="429768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75320" y="429768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76488" y="4462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≈0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476488" y="50109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different main class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Cosine-similarity distribution across the design hierarchy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expansion improves ranking—selectively</a:t>
            </a:r>
            <a:endParaRPr lang="en-US" sz="2800" dirty="0"/>
          </a:p>
        </p:txBody>
      </p:sp>
      <p:pic>
        <p:nvPicPr>
          <p:cNvPr id="4" name="Image 0" descr="C:\Dropbox\Apps\Overleaf\ACM Conference Proceedings Primary Article Template\figure\QE_Success_D08235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772668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1371600"/>
            <a:ext cx="77266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95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59536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96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0.8193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796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baseline mAP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95360" y="283464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95360" y="283464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96528" y="29992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0.8417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796528" y="35478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expansion mAP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95360" y="4297680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95360" y="4297680"/>
            <a:ext cx="64008" cy="132588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96528" y="445312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Best setting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796528" y="4828032"/>
            <a:ext cx="2276856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k = 3 · α =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Diffusion peaks at 0.8332.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Gallery; qualitative query-expansion example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deployable retrieval layer—with clear limits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64008" cy="35204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1 · Supervision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Patent identity turns multi-view drawings into strong positive pairs and avoids category-only shortcuts.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1417320"/>
            <a:ext cx="64008" cy="352044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2 · Scale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028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High-resolution ConvNeXt features maintain useful precision in a 338k-image extended gallery.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417320"/>
            <a:ext cx="64008" cy="352044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932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3 · Next step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Hard negatives, domain filtering, and examiner-centered evaluation remain essential.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53218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Bottom line: metric learning can narrow prior art; it does not replace legal judgment.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Academic working paper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Patent Similarity with ArcFace Metric Learning</dc:title>
  <dc:subject>15-minute academic presentation</dc:subject>
  <dc:creator>Hui-Ching Chuang</dc:creator>
  <cp:lastModifiedBy>Hui-Ching Chuang</cp:lastModifiedBy>
  <cp:revision>1</cp:revision>
  <dcterms:created xsi:type="dcterms:W3CDTF">2026-08-26T02:33:06Z</dcterms:created>
  <dcterms:modified xsi:type="dcterms:W3CDTF">2026-08-26T02:33:06Z</dcterms:modified>
</cp:coreProperties>
</file>