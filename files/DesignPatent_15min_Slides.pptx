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155680" cy="0"/>
          </a:xfrm>
          <a:prstGeom prst="line">
            <a:avLst/>
          </a:prstGeom>
          <a:noFill/>
          <a:ln w="7620">
            <a:solidFill>
              <a:srgbClr val="C9CDD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6510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30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PAPER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74980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6B35"/>
                </a:solidFill>
              </a:rPr>
              <a:t>COMPUTER VISION FOR PRIOR-ART SEARCH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21792" y="1261872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111111"/>
                </a:solidFill>
              </a:rPr>
              <a:t>Design Patent Similarity with ArcFace Metric Learning</a:t>
            </a:r>
            <a:endParaRPr lang="en-US" sz="3700" dirty="0"/>
          </a:p>
        </p:txBody>
      </p:sp>
      <p:sp>
        <p:nvSpPr>
          <p:cNvPr id="5" name="Text 3"/>
          <p:cNvSpPr/>
          <p:nvPr/>
        </p:nvSpPr>
        <p:spPr>
          <a:xfrm>
            <a:off x="658368" y="28803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E6470"/>
                </a:solidFill>
              </a:rPr>
              <a:t>Hui-Ching Chuang · Yueh-Heng Wu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334670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E6470"/>
                </a:solidFill>
              </a:rPr>
              <a:t>Department of Statistics, National Taipei University  ·  hcchuang@gm.ntpu.edu.tw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58368" y="3803904"/>
            <a:ext cx="182880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4151376"/>
            <a:ext cx="89611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11111"/>
                </a:solidFill>
              </a:rPr>
              <a:t>Patent identity—not product category—is the right supervision for finding visually similar designs.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658368" y="585216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5E6470"/>
                </a:solidFill>
              </a:rPr>
              <a:t>15-MINUTE RESEARCH TALK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Prior-art search is a near-duplicate problem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 ·  HUI-CHING CHUANG  ·  YUEH-HENG WU</a:t>
            </a:r>
            <a:endParaRPr lang="en-US" sz="730" dirty="0"/>
          </a:p>
        </p:txBody>
      </p:sp>
      <p:pic>
        <p:nvPicPr>
          <p:cNvPr id="5" name="Image 0" descr="C:\Dropbox\Apps\Overleaf\ACM Conference Proceedings Primary Article Template\figure\Compare_D0807117_67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17320"/>
            <a:ext cx="6903720" cy="4434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94360" y="1417320"/>
            <a:ext cx="6903720" cy="4434840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818120" y="1417320"/>
            <a:ext cx="3703320" cy="1280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818120" y="1417320"/>
            <a:ext cx="64008" cy="128016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19288" y="15727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The retrieval challenge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19288" y="1947672"/>
            <a:ext cx="337413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Multiple views can depict one design, while category similarity is too coarse for prior-art search.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818120" y="2926080"/>
            <a:ext cx="3703320" cy="1280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18120" y="2926080"/>
            <a:ext cx="64008" cy="1280160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19288" y="308152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The research question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019288" y="3456432"/>
            <a:ext cx="337413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Can metric learning organize drawings around patent identity at national scale?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18120" y="4434840"/>
            <a:ext cx="3703320" cy="1280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818120" y="4434840"/>
            <a:ext cx="64008" cy="1280160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019288" y="459028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Experimental results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019288" y="4965192"/>
            <a:ext cx="337413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Best mAP: 0.8193 Standard / 0.6493 Extended. Acc@1: 0.9312 / 0.8088.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Design Patent Similarity with ArcFace Metric Learning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national-scale corpus makes the task realistic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 ·  HUI-CHING CHUANG  ·  YUEH-HENG WU</a:t>
            </a:r>
            <a:endParaRPr lang="en-US" sz="730" dirty="0"/>
          </a:p>
        </p:txBody>
      </p:sp>
      <p:sp>
        <p:nvSpPr>
          <p:cNvPr id="5" name="Shape 3"/>
          <p:cNvSpPr/>
          <p:nvPr/>
        </p:nvSpPr>
        <p:spPr>
          <a:xfrm>
            <a:off x="594360" y="1417320"/>
            <a:ext cx="26060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417320"/>
            <a:ext cx="73152" cy="122529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58191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834,168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95528" y="21305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US design patents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29000" y="1417320"/>
            <a:ext cx="26060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417320"/>
            <a:ext cx="73152" cy="1225296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30168" y="158191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5.20M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630168" y="21305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drawing images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63640" y="1417320"/>
            <a:ext cx="26060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1417320"/>
            <a:ext cx="73152" cy="1225296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64808" y="158191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1976–2025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464808" y="21305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coverage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98280" y="1417320"/>
            <a:ext cx="246888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98280" y="1417320"/>
            <a:ext cx="73152" cy="1225296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99448" y="158191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338,436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9299448" y="2130552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extended-gallery images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21792" y="31089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11111"/>
                </a:solidFill>
              </a:rPr>
              <a:t>Train / validation / retrieval split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640080" y="3749040"/>
            <a:ext cx="7040880" cy="640080"/>
          </a:xfrm>
          <a:prstGeom prst="rect">
            <a:avLst/>
          </a:prstGeom>
          <a:solidFill>
            <a:srgbClr val="DCEAF7"/>
          </a:solidFill>
          <a:ln w="12700">
            <a:solidFill>
              <a:srgbClr val="DCEA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0" y="3749040"/>
            <a:ext cx="1234440" cy="640080"/>
          </a:xfrm>
          <a:prstGeom prst="rect">
            <a:avLst/>
          </a:prstGeom>
          <a:solidFill>
            <a:srgbClr val="AFCDE7"/>
          </a:solidFill>
          <a:ln w="12700">
            <a:solidFill>
              <a:srgbClr val="AFCDE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15400" y="3749040"/>
            <a:ext cx="2606040" cy="640080"/>
          </a:xfrm>
          <a:prstGeom prst="rect">
            <a:avLst/>
          </a:prstGeom>
          <a:solidFill>
            <a:srgbClr val="FFCEBA"/>
          </a:solidFill>
          <a:ln w="12700">
            <a:solidFill>
              <a:srgbClr val="FFCEB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3941064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</a:rPr>
              <a:t>128,888 training patents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90688" y="394106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22,746 validation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162288" y="394106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46,179 extended-gallery patents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484632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</a:rPr>
              <a:t>The extended gallery is 8.7× larger than the standard gallery—closer to production retrieval.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Corpus and split statistics reported in the paper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Patent IDs become the metric-learning signal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 ·  HUI-CHING CHUANG  ·  YUEH-HENG WU</a:t>
            </a:r>
            <a:endParaRPr lang="en-US" sz="730" dirty="0"/>
          </a:p>
        </p:txBody>
      </p:sp>
      <p:sp>
        <p:nvSpPr>
          <p:cNvPr id="5" name="Shape 3"/>
          <p:cNvSpPr/>
          <p:nvPr/>
        </p:nvSpPr>
        <p:spPr>
          <a:xfrm>
            <a:off x="2542032" y="2788920"/>
            <a:ext cx="256032" cy="310896"/>
          </a:xfrm>
          <a:prstGeom prst="chevron">
            <a:avLst/>
          </a:prstGeom>
          <a:solidFill>
            <a:srgbClr val="5E6470"/>
          </a:solidFill>
          <a:ln w="12700">
            <a:solidFill>
              <a:srgbClr val="5E647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148072" y="2788920"/>
            <a:ext cx="256032" cy="310896"/>
          </a:xfrm>
          <a:prstGeom prst="chevron">
            <a:avLst/>
          </a:prstGeom>
          <a:solidFill>
            <a:srgbClr val="5E6470"/>
          </a:solidFill>
          <a:ln w="12700">
            <a:solidFill>
              <a:srgbClr val="5E647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62672" y="2788920"/>
            <a:ext cx="256032" cy="310896"/>
          </a:xfrm>
          <a:prstGeom prst="chevron">
            <a:avLst/>
          </a:prstGeom>
          <a:solidFill>
            <a:srgbClr val="5E6470"/>
          </a:solidFill>
          <a:ln w="12700">
            <a:solidFill>
              <a:srgbClr val="5E64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2057400"/>
            <a:ext cx="1874520" cy="1783080"/>
          </a:xfrm>
          <a:prstGeom prst="roundRect">
            <a:avLst>
              <a:gd name="adj" fmla="val 4103"/>
            </a:avLst>
          </a:prstGeom>
          <a:solidFill>
            <a:srgbClr val="F2F3F5"/>
          </a:solidFill>
          <a:ln w="15240">
            <a:solidFill>
              <a:srgbClr val="C9CD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395728"/>
            <a:ext cx="1618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</a:rPr>
              <a:t>Patent drawing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22376" y="2953512"/>
            <a:ext cx="1618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multiple views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926080" y="2057400"/>
            <a:ext cx="2057400" cy="1783080"/>
          </a:xfrm>
          <a:prstGeom prst="roundRect">
            <a:avLst>
              <a:gd name="adj" fmla="val 4103"/>
            </a:avLst>
          </a:prstGeom>
          <a:solidFill>
            <a:srgbClr val="F2F3F5"/>
          </a:solidFill>
          <a:ln w="15240">
            <a:solidFill>
              <a:srgbClr val="C9CD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54096" y="2395728"/>
            <a:ext cx="1801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</a:rPr>
              <a:t>ConvNeXtV2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054096" y="2953512"/>
            <a:ext cx="1801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visual backbone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532120" y="2057400"/>
            <a:ext cx="1965960" cy="1783080"/>
          </a:xfrm>
          <a:prstGeom prst="roundRect">
            <a:avLst>
              <a:gd name="adj" fmla="val 4103"/>
            </a:avLst>
          </a:prstGeom>
          <a:solidFill>
            <a:srgbClr val="F2F3F5"/>
          </a:solidFill>
          <a:ln w="15240">
            <a:solidFill>
              <a:srgbClr val="C9CD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0136" y="2395728"/>
            <a:ext cx="170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</a:rPr>
              <a:t>L2 embedding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660136" y="2953512"/>
            <a:ext cx="1709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64–256 dimensions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046720" y="2057400"/>
            <a:ext cx="3474720" cy="1783080"/>
          </a:xfrm>
          <a:prstGeom prst="roundRect">
            <a:avLst>
              <a:gd name="adj" fmla="val 4103"/>
            </a:avLst>
          </a:prstGeom>
          <a:solidFill>
            <a:srgbClr val="FFF1EB"/>
          </a:solidFill>
          <a:ln w="15240">
            <a:solidFill>
              <a:srgbClr val="FF6B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74736" y="2395728"/>
            <a:ext cx="3218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</a:rPr>
              <a:t>ArcFace objective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174736" y="2953512"/>
            <a:ext cx="3218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pull same-patent views together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push different patents apart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097280" y="4663440"/>
            <a:ext cx="48006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97280" y="4663440"/>
            <a:ext cx="64008" cy="960120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98448" y="4818888"/>
            <a:ext cx="4471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Training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98448" y="5193792"/>
            <a:ext cx="447141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Scale 30 · angular margin 0.50 · 30 epochs · effective batch ≈512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09360" y="4663440"/>
            <a:ext cx="48006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4663440"/>
            <a:ext cx="64008" cy="960120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0528" y="4818888"/>
            <a:ext cx="4471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Retrieval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10528" y="5193792"/>
            <a:ext cx="447141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Cosine search, then optional query expansion or graph diffusion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architecture and training protocol from the paper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SELECTION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and backbone capacity both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 ·  HUI-CHING CHUANG  ·  YUEH-HENG WU</a:t>
            </a:r>
            <a:endParaRPr lang="en-US" sz="730" dirty="0"/>
          </a:p>
        </p:txBody>
      </p:sp>
      <p:sp>
        <p:nvSpPr>
          <p:cNvPr id="5" name="Shape 3"/>
          <p:cNvSpPr/>
          <p:nvPr/>
        </p:nvSpPr>
        <p:spPr>
          <a:xfrm>
            <a:off x="777240" y="5623560"/>
            <a:ext cx="1024128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56235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55321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47599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4668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77240" y="38963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38049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0.4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77240" y="30327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29413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0.6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77240" y="21691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20777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0.8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77240" y="3271545"/>
            <a:ext cx="1143000" cy="2352015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015513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0.5447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2648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ConvNeXt-T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64px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487168" y="2491283"/>
            <a:ext cx="1143000" cy="3132277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41448" y="2235251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0.7254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322576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ConvNeXt-T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128px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197096" y="2085823"/>
            <a:ext cx="1143000" cy="3537737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51376" y="1829791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0.8193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32504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ConvNeXt-T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256px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907024" y="4145940"/>
            <a:ext cx="1143000" cy="1477620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61304" y="388990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0.3422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742432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ResNet-18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256px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616952" y="3958539"/>
            <a:ext cx="1143000" cy="1665021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71232" y="3702507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0.3856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452360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ResNet-50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256px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326880" y="3629076"/>
            <a:ext cx="1143000" cy="1994484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81160" y="337304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0.4619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162288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ResNet-152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256px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052560" y="1389888"/>
            <a:ext cx="2057400" cy="310896"/>
          </a:xfrm>
          <a:prstGeom prst="roundRect">
            <a:avLst>
              <a:gd name="adj" fmla="val 23529"/>
            </a:avLst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16568" y="1453896"/>
            <a:ext cx="1929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BEST: 0.8193 mAP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Gallery mean average precision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gain survives a much larger search gallery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 ·  HUI-CHING CHUANG  ·  YUEH-HENG WU</a:t>
            </a:r>
            <a:endParaRPr lang="en-US" sz="730" dirty="0"/>
          </a:p>
        </p:txBody>
      </p:sp>
      <p:sp>
        <p:nvSpPr>
          <p:cNvPr id="5" name="Text 3"/>
          <p:cNvSpPr/>
          <p:nvPr/>
        </p:nvSpPr>
        <p:spPr>
          <a:xfrm>
            <a:off x="68580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1"/>
                </a:solidFill>
              </a:rPr>
              <a:t>Standard Gallery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1"/>
                </a:solidFill>
              </a:rPr>
              <a:t>Extended Gallery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2057400"/>
            <a:ext cx="4983480" cy="2606040"/>
          </a:xfrm>
          <a:prstGeom prst="roundRect">
            <a:avLst>
              <a:gd name="adj" fmla="val 1754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3134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6470"/>
                </a:solidFill>
              </a:rPr>
              <a:t>mAP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600200" y="2331720"/>
            <a:ext cx="3246394" cy="56692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10602" y="2487168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0.8193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00200" y="297180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0"/>
                </a:solidFill>
              </a:rPr>
              <a:t>Ours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600200" y="3410712"/>
            <a:ext cx="1489862" cy="566928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4070" y="3566160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0.3760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00200" y="405079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0"/>
                </a:solidFill>
              </a:rPr>
              <a:t>PatentNet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2057400"/>
            <a:ext cx="4983480" cy="2606040"/>
          </a:xfrm>
          <a:prstGeom prst="roundRect">
            <a:avLst>
              <a:gd name="adj" fmla="val 1754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20840" y="23134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6470"/>
                </a:solidFill>
              </a:rPr>
              <a:t>mAP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60920" y="2331720"/>
            <a:ext cx="2572786" cy="56692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97714" y="2487168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0.6493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60920" y="297180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0"/>
                </a:solidFill>
              </a:rPr>
              <a:t>Ours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60920" y="3410712"/>
            <a:ext cx="1038149" cy="566928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63077" y="3566160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0.2620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60920" y="405079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0"/>
                </a:solidFill>
              </a:rPr>
              <a:t>PatentNet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68680" y="5074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</a:rPr>
              <a:t>Acc@1 = 0.9312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291840" y="5074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</a:rPr>
              <a:t>Acc@20 = 0.9906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629400" y="5074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</a:rPr>
              <a:t>Acc@1 = 0.8088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052560" y="5074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</a:rPr>
              <a:t>Acc@20 = 0.9711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256px ConvNeXtV2-Tiny vs. PatentNet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embedding learns identity—not just taxonomy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 ·  HUI-CHING CHUANG  ·  YUEH-HENG WU</a:t>
            </a:r>
            <a:endParaRPr lang="en-US" sz="730" dirty="0"/>
          </a:p>
        </p:txBody>
      </p:sp>
      <p:pic>
        <p:nvPicPr>
          <p:cNvPr id="5" name="Image 0" descr="C:\Dropbox\Apps\Overleaf\ACM Conference Proceedings Primary Article Template\figure\Hierarchical_Cosine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452360" cy="4526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371600"/>
            <a:ext cx="745236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75320" y="1463040"/>
            <a:ext cx="297180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75320" y="1463040"/>
            <a:ext cx="73152" cy="122529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76488" y="162763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0.617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8476488" y="21762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median: same patent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275320" y="2880360"/>
            <a:ext cx="297180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75320" y="2880360"/>
            <a:ext cx="73152" cy="1225296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76488" y="304495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0.013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8476488" y="35935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same subclass, other patent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275320" y="4297680"/>
            <a:ext cx="297180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75320" y="4297680"/>
            <a:ext cx="73152" cy="1225296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476488" y="44622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≈0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476488" y="50109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different main class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Cosine-similarity distribution across the design hierarchy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expansion improves ranking—selectively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 ·  HUI-CHING CHUANG  ·  YUEH-HENG WU</a:t>
            </a:r>
            <a:endParaRPr lang="en-US" sz="730" dirty="0"/>
          </a:p>
        </p:txBody>
      </p:sp>
      <p:pic>
        <p:nvPicPr>
          <p:cNvPr id="5" name="Image 0" descr="C:\Dropbox\Apps\Overleaf\ACM Conference Proceedings Primary Article Template\figure\QE_Success_D08235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71600"/>
            <a:ext cx="7726680" cy="4526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94360" y="1371600"/>
            <a:ext cx="77266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595360" y="1417320"/>
            <a:ext cx="26060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595360" y="1417320"/>
            <a:ext cx="73152" cy="1225296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796528" y="158191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0.8193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8796528" y="21305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baseline mAP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595360" y="2834640"/>
            <a:ext cx="26060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595360" y="2834640"/>
            <a:ext cx="73152" cy="122529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796528" y="299923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0.8417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8796528" y="35478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query expansion mAP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595360" y="4297680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595360" y="4297680"/>
            <a:ext cx="64008" cy="1325880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96528" y="4453128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Best setting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796528" y="4828032"/>
            <a:ext cx="2276856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k = 3 · α =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Diffusion peaks at 0.8332.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Gallery; qualitative query-expansion example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deployable retrieval layer—with clear limits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 ·  HUI-CHING CHUANG  ·  YUEH-HENG WU</a:t>
            </a:r>
            <a:endParaRPr lang="en-US" sz="73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3429000" cy="352044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417320"/>
            <a:ext cx="64008" cy="352044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57276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1 · Supervision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1947672"/>
            <a:ext cx="3099816" cy="2862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Patent identity turns multi-view drawings into strong positive pairs and avoids category-only shortcuts.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89120" y="1417320"/>
            <a:ext cx="3429000" cy="352044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9120" y="1417320"/>
            <a:ext cx="64008" cy="3520440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0288" y="157276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2 · Scale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90288" y="1947672"/>
            <a:ext cx="3099816" cy="2862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High-resolution ConvNeXt features maintain useful precision in a 338k-image extended gallery.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38160" y="1417320"/>
            <a:ext cx="3429000" cy="352044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38160" y="1417320"/>
            <a:ext cx="64008" cy="3520440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39328" y="157276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3 · Next step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39328" y="1947672"/>
            <a:ext cx="3099816" cy="2862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Hard negatives, domain filtering, and examiner-centered evaluation remain essential.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85800" y="532180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11111"/>
                </a:solidFill>
              </a:rPr>
              <a:t>Bottom line: metric learning can narrow prior art; it does not replace legal judgment.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Academic working paper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Patent Similarity with ArcFace Metric Learning</dc:title>
  <dc:subject>15-minute academic presentation</dc:subject>
  <dc:creator>Hui-Ching Chuang</dc:creator>
  <cp:lastModifiedBy>Hui-Ching Chuang</cp:lastModifiedBy>
  <cp:revision>1</cp:revision>
  <dcterms:created xsi:type="dcterms:W3CDTF">2026-08-26T02:41:51Z</dcterms:created>
  <dcterms:modified xsi:type="dcterms:W3CDTF">2026-08-26T02:41:51Z</dcterms:modified>
</cp:coreProperties>
</file>