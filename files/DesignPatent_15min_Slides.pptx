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473952"/>
            <a:ext cx="11155680" cy="0"/>
          </a:xfrm>
          <a:prstGeom prst="line">
            <a:avLst/>
          </a:prstGeom>
          <a:noFill/>
          <a:ln w="7620">
            <a:solidFill>
              <a:srgbClr val="C9CD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10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30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7498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6B35"/>
                </a:solidFill>
              </a:rPr>
              <a:t>COMPUTER VISION FOR PRIOR-ART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21792" y="126187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111111"/>
                </a:solidFill>
              </a:rPr>
              <a:t>Design Patent Similarity with ArcFace Metric Learning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658368" y="28803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E6470"/>
                </a:solidFill>
              </a:rPr>
              <a:t>Hui-Ching Chuang · Yueh-Heng Wu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33467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E6470"/>
                </a:solidFill>
              </a:rPr>
              <a:t>Department of Statistics, National Taipei University  ·  hcchuang@gm.ntpu.edu.tw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3803904"/>
            <a:ext cx="182880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151376"/>
            <a:ext cx="89611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11111"/>
                </a:solidFill>
              </a:rPr>
              <a:t>Patent identity—not product category—is the right supervision for finding visually similar designs.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58368" y="58521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5E6470"/>
                </a:solidFill>
              </a:rPr>
              <a:t>15-MINUTE RESEARCH TALK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EXPERIMENTAL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retrieval examples show success and hard negatives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pic>
        <p:nvPicPr>
          <p:cNvPr id="5" name="Image 0" descr="C:\Dropbox\Apps\Overleaf\ACM Conference Proceedings Primary Article Template\figure\Compare_D0807117_676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647" y="1298448"/>
            <a:ext cx="7524105" cy="13898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5647" y="1298448"/>
            <a:ext cx="7524105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549640" y="1298448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49640" y="1298448"/>
            <a:ext cx="64008" cy="13898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50808" y="1453896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1 · exact recovery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750808" y="1828800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D0807117: all five retrieved views share the query patent ID.</a:t>
            </a:r>
            <a:endParaRPr lang="en-US" sz="1150" dirty="0"/>
          </a:p>
        </p:txBody>
      </p:sp>
      <p:pic>
        <p:nvPicPr>
          <p:cNvPr id="11" name="Image 1" descr="C:\Dropbox\Apps\Overleaf\ACM Conference Proceedings Primary Article Template\figure\Compare_D0806975_3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73" y="2889504"/>
            <a:ext cx="7534455" cy="13898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90473" y="2889504"/>
            <a:ext cx="7534455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549640" y="2889504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549640" y="2889504"/>
            <a:ext cx="64008" cy="138988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50808" y="3044952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2 · exact recovery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750808" y="3419856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D0806975: all five retrieved views share the query patent ID.</a:t>
            </a:r>
            <a:endParaRPr lang="en-US" sz="1150" dirty="0"/>
          </a:p>
        </p:txBody>
      </p:sp>
      <p:pic>
        <p:nvPicPr>
          <p:cNvPr id="17" name="Image 2" descr="C:\Dropbox\Apps\Overleaf\ACM Conference Proceedings Primary Article Template\figure\Compare_D0808886_47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88" y="4480560"/>
            <a:ext cx="7432223" cy="138988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741588" y="4480560"/>
            <a:ext cx="7432223" cy="1389888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549640" y="4480560"/>
            <a:ext cx="2971800" cy="1389888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549640" y="4480560"/>
            <a:ext cx="64008" cy="1389888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750808" y="4636008"/>
            <a:ext cx="264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Example 3 · hard negative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8750808" y="5010912"/>
            <a:ext cx="264261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D0808886: visually close panels rank highly despite different patent IDs.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 Gallery qualitative retrieval results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national-scale corpus makes the task realistic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41732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834,168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9552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US design patents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41732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5.20M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3016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drawing images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63640" y="141732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1976–2025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46480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coverage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280" y="1417320"/>
            <a:ext cx="246888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98280" y="1417320"/>
            <a:ext cx="73152" cy="1225296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99448" y="158191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338,436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299448" y="213055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extended-gallery images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1792" y="31089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Train / validation / retrieval split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40080" y="3749040"/>
            <a:ext cx="7040880" cy="640080"/>
          </a:xfrm>
          <a:prstGeom prst="rect">
            <a:avLst/>
          </a:prstGeom>
          <a:solidFill>
            <a:srgbClr val="DCEAF7"/>
          </a:solidFill>
          <a:ln w="12700">
            <a:solidFill>
              <a:srgbClr val="DCEA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0" y="3749040"/>
            <a:ext cx="1234440" cy="640080"/>
          </a:xfrm>
          <a:prstGeom prst="rect">
            <a:avLst/>
          </a:prstGeom>
          <a:solidFill>
            <a:srgbClr val="AFCDE7"/>
          </a:solidFill>
          <a:ln w="12700">
            <a:solidFill>
              <a:srgbClr val="AFCD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15400" y="3749040"/>
            <a:ext cx="2606040" cy="640080"/>
          </a:xfrm>
          <a:prstGeom prst="rect">
            <a:avLst/>
          </a:prstGeom>
          <a:solidFill>
            <a:srgbClr val="FFCEBA"/>
          </a:solidFill>
          <a:ln w="12700">
            <a:solidFill>
              <a:srgbClr val="FFCE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3941064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128,888 training patents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90688" y="394106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22,746 validation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62288" y="394106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46,179 extended-gallery patents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8463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The extended gallery is 8.7× larger than the standard gallery—closer to production retrieval.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and split statistics reported in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PhotoLike filtering removes photographs before training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21792" y="129844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Representative photographic-style patents</a:t>
            </a:r>
            <a:endParaRPr lang="en-US" sz="1400" dirty="0"/>
          </a:p>
        </p:txBody>
      </p:sp>
      <p:pic>
        <p:nvPicPr>
          <p:cNvPr id="6" name="Image 0" descr="C:\Dropbox\Apps\Overleaf\ACM Conference Proceedings Primary Article Template\figure\photolike_sampl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91640"/>
            <a:ext cx="1060704" cy="106070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8" name="Image 1" descr="C:\Dropbox\Apps\Overleaf\ACM Conference Proceedings Primary Article Template\figure\photolike_samp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376" y="1691640"/>
            <a:ext cx="1060704" cy="10607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865376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0" name="Image 2" descr="C:\Dropbox\Apps\Overleaf\ACM Conference Proceedings Primary Article Template\figure\photolike_sampl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691640"/>
            <a:ext cx="1060704" cy="10607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108960" y="16916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2" name="Image 3" descr="C:\Dropbox\Apps\Overleaf\ACM Conference Proceedings Primary Article Template\figure\photolike_sample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063240"/>
            <a:ext cx="1060704" cy="1060704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21792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4" name="Image 4" descr="C:\Dropbox\Apps\Overleaf\ACM Conference Proceedings Primary Article Template\figure\photolike_sample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5376" y="3063240"/>
            <a:ext cx="1060704" cy="1060704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1865376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pic>
        <p:nvPicPr>
          <p:cNvPr id="16" name="Image 5" descr="C:\Dropbox\Apps\Overleaf\ACM Conference Proceedings Primary Article Template\figure\photolike_sample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960" y="3063240"/>
            <a:ext cx="1060704" cy="1060704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108960" y="3063240"/>
            <a:ext cx="1060704" cy="1060704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4572000" y="1298448"/>
            <a:ext cx="6967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Pixel-intensity entropy separates the domains</a:t>
            </a:r>
            <a:endParaRPr lang="en-US" sz="1400" dirty="0"/>
          </a:p>
        </p:txBody>
      </p:sp>
      <p:pic>
        <p:nvPicPr>
          <p:cNvPr id="19" name="Image 6" descr="C:\Dropbox\Apps\Overleaf\ACM Conference Proceedings Primary Article Template\figure\entropy_distributio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02321" y="1627632"/>
            <a:ext cx="5897942" cy="2798064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40080" y="4617720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</a:rPr>
              <a:t>Line drawings are sparse and low-entropy; photographs contain richer shading and texture.</a:t>
            </a:r>
            <a:endParaRPr lang="en-US" sz="1500" dirty="0"/>
          </a:p>
        </p:txBody>
      </p:sp>
      <p:sp>
        <p:nvSpPr>
          <p:cNvPr id="21" name="Shape 12"/>
          <p:cNvSpPr/>
          <p:nvPr/>
        </p:nvSpPr>
        <p:spPr>
          <a:xfrm>
            <a:off x="5468112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5468112" y="4590288"/>
            <a:ext cx="64008" cy="932688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5669280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Threshold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5669280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τ = 0.724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99% target recall</a:t>
            </a:r>
            <a:endParaRPr lang="en-US" sz="1150" dirty="0"/>
          </a:p>
        </p:txBody>
      </p:sp>
      <p:sp>
        <p:nvSpPr>
          <p:cNvPr id="25" name="Shape 16"/>
          <p:cNvSpPr/>
          <p:nvPr/>
        </p:nvSpPr>
        <p:spPr>
          <a:xfrm>
            <a:off x="7498080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6" name="Shape 17"/>
          <p:cNvSpPr/>
          <p:nvPr/>
        </p:nvSpPr>
        <p:spPr>
          <a:xfrm>
            <a:off x="7498080" y="4590288"/>
            <a:ext cx="64008" cy="9326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7" name="Text 18"/>
          <p:cNvSpPr/>
          <p:nvPr/>
        </p:nvSpPr>
        <p:spPr>
          <a:xfrm>
            <a:off x="7699248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Flagged</a:t>
            </a:r>
            <a:endParaRPr lang="en-US" sz="1400" dirty="0"/>
          </a:p>
        </p:txBody>
      </p:sp>
      <p:sp>
        <p:nvSpPr>
          <p:cNvPr id="28" name="Text 19"/>
          <p:cNvSpPr/>
          <p:nvPr/>
        </p:nvSpPr>
        <p:spPr>
          <a:xfrm>
            <a:off x="7699248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28,717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candidates</a:t>
            </a:r>
            <a:endParaRPr lang="en-US" sz="1150" dirty="0"/>
          </a:p>
        </p:txBody>
      </p:sp>
      <p:sp>
        <p:nvSpPr>
          <p:cNvPr id="29" name="Shape 20"/>
          <p:cNvSpPr/>
          <p:nvPr/>
        </p:nvSpPr>
        <p:spPr>
          <a:xfrm>
            <a:off x="9528048" y="4590288"/>
            <a:ext cx="1828800" cy="932688"/>
          </a:xfrm>
          <a:prstGeom prst="roundRect">
            <a:avLst>
              <a:gd name="adj" fmla="val 490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30" name="Shape 21"/>
          <p:cNvSpPr/>
          <p:nvPr/>
        </p:nvSpPr>
        <p:spPr>
          <a:xfrm>
            <a:off x="9528048" y="4590288"/>
            <a:ext cx="64008" cy="932688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9729216" y="474573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Excluded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9729216" y="5120640"/>
            <a:ext cx="1499616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25,448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verified patents</a:t>
            </a:r>
            <a:endParaRPr lang="en-US" sz="1150" dirty="0"/>
          </a:p>
        </p:txBody>
      </p:sp>
      <p:sp>
        <p:nvSpPr>
          <p:cNvPr id="33" name="Text 24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Entropy filter calibrated on 2,504 labeled photographs and 25,000 line-drawing patents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Patent IDs become the metric-learning signal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254203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480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62672" y="2788920"/>
            <a:ext cx="256032" cy="310896"/>
          </a:xfrm>
          <a:prstGeom prst="chevron">
            <a:avLst/>
          </a:prstGeom>
          <a:solidFill>
            <a:srgbClr val="5E6470"/>
          </a:solidFill>
          <a:ln w="12700">
            <a:solidFill>
              <a:srgbClr val="5E64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057400"/>
            <a:ext cx="187452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395728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Patent drawing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22376" y="2953512"/>
            <a:ext cx="1618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multiple views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26080" y="2057400"/>
            <a:ext cx="205740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395728"/>
            <a:ext cx="180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ConvNeXtV2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054096" y="2953512"/>
            <a:ext cx="1801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visual backbone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532120" y="2057400"/>
            <a:ext cx="1965960" cy="1783080"/>
          </a:xfrm>
          <a:prstGeom prst="roundRect">
            <a:avLst>
              <a:gd name="adj" fmla="val 4103"/>
            </a:avLst>
          </a:prstGeom>
          <a:solidFill>
            <a:srgbClr val="F2F3F5"/>
          </a:solidFill>
          <a:ln w="1524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2395728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L2 embedding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660136" y="2953512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64–256 dimensions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20574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FF1EB"/>
          </a:solidFill>
          <a:ln w="1524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395728"/>
            <a:ext cx="3218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</a:rPr>
              <a:t>ArcFace objective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174736" y="2953512"/>
            <a:ext cx="3218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pull same-patent views together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push different patents apart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9728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97280" y="4663440"/>
            <a:ext cx="64008" cy="9601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9844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Training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9844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Scale 30 · angular margin 0.50 · 30 epochs · effective batch ≈512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663440"/>
            <a:ext cx="48006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4663440"/>
            <a:ext cx="64008" cy="96012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0528" y="4818888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Retrieval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10528" y="5193792"/>
            <a:ext cx="44714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Cosine search, then optional query expansion or graph diffusion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architecture and training protocol from the paper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SELECTION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and backbone capacity both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56235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55321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47599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4668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" y="38963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8049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30327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29413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7240" y="2169160"/>
            <a:ext cx="10241280" cy="0"/>
          </a:xfrm>
          <a:prstGeom prst="line">
            <a:avLst/>
          </a:prstGeom>
          <a:noFill/>
          <a:ln w="6350">
            <a:solidFill>
              <a:srgbClr val="C9CD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0777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470"/>
                </a:solidFill>
              </a:rPr>
              <a:t>0.8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" y="3271545"/>
            <a:ext cx="1143000" cy="2352015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015513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0.5447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64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64px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87168" y="2491283"/>
            <a:ext cx="1143000" cy="313227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48" y="223525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0.7254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22576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128px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97096" y="2085823"/>
            <a:ext cx="1143000" cy="3537737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51376" y="1829791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0.8193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2504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ConvNeXt-T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07024" y="4145940"/>
            <a:ext cx="1143000" cy="147762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61304" y="388990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0.3422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742432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ResNet-18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616952" y="3958539"/>
            <a:ext cx="1143000" cy="1665021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71232" y="3702507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0.3856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52360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ResNet-50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326880" y="3629076"/>
            <a:ext cx="1143000" cy="1994484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81160" y="33730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</a:rPr>
              <a:t>0.4619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162288" y="571500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ResNet-152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E6470"/>
                </a:solidFill>
              </a:rPr>
              <a:t>256px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052560" y="1389888"/>
            <a:ext cx="2057400" cy="310896"/>
          </a:xfrm>
          <a:prstGeom prst="roundRect">
            <a:avLst>
              <a:gd name="adj" fmla="val 23529"/>
            </a:avLst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16568" y="1453896"/>
            <a:ext cx="1929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BEST: 0.8193 mAP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 mean average precision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gain survives a much larger search gallery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Text 3"/>
          <p:cNvSpPr/>
          <p:nvPr/>
        </p:nvSpPr>
        <p:spPr>
          <a:xfrm>
            <a:off x="685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Standard Gallery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</a:rPr>
              <a:t>Extended Gallery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00200" y="2331720"/>
            <a:ext cx="3246394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0602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0.8193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0020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00200" y="3410712"/>
            <a:ext cx="1489862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070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0.3760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0020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2057400"/>
            <a:ext cx="4983480" cy="2606040"/>
          </a:xfrm>
          <a:prstGeom prst="roundRect">
            <a:avLst>
              <a:gd name="adj" fmla="val 1754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231343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E6470"/>
                </a:solidFill>
              </a:rPr>
              <a:t>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331720"/>
            <a:ext cx="2572786" cy="56692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97714" y="248716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0.6493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60920" y="29718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Ours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60920" y="3410712"/>
            <a:ext cx="1038149" cy="566928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63077" y="3566160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0.2620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470"/>
                </a:solidFill>
              </a:rPr>
              <a:t>PatentNet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0.9312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29184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0.9906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2940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Acc@1 = 0.8088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052560" y="5074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35"/>
                </a:solidFill>
              </a:rPr>
              <a:t>Acc@20 = 0.9711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256px ConvNeXtV2-Tiny vs. PatentNet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embedding learns identity—not just taxonomy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pic>
        <p:nvPicPr>
          <p:cNvPr id="5" name="Image 0" descr="C:\Dropbox\Apps\Overleaf\ACM Conference Proceedings Primary Article Template\figure\Hierarchical_Cosine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237" y="1371600"/>
            <a:ext cx="6825166" cy="45262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2237" y="1371600"/>
            <a:ext cx="6825166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75320" y="1463040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75320" y="146304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76488" y="162763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0.617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476488" y="21762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median: same patent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275320" y="2880360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75320" y="288036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76488" y="304495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0.013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476488" y="35935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same subclass, other patent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275320" y="4297680"/>
            <a:ext cx="297180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75320" y="4297680"/>
            <a:ext cx="73152" cy="1225296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76488" y="44622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≈0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476488" y="501091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different main class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Cosine-similarity distribution across the design hierarchy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expansion improves ranking—selectively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pic>
        <p:nvPicPr>
          <p:cNvPr id="5" name="Image 0" descr="C:\Dropbox\Apps\Overleaf\ACM Conference Proceedings Primary Article Template\figure\QE_Success_D08235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217234"/>
            <a:ext cx="7726680" cy="283501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4360" y="2217234"/>
            <a:ext cx="7726680" cy="2835011"/>
          </a:xfrm>
          <a:prstGeom prst="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C9CDD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595360" y="141732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95360" y="1417320"/>
            <a:ext cx="73152" cy="1225296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96528" y="158191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0.8193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796528" y="21305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baseline mAP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95360" y="2834640"/>
            <a:ext cx="2606040" cy="1225296"/>
          </a:xfrm>
          <a:prstGeom prst="roundRect">
            <a:avLst>
              <a:gd name="adj" fmla="val 447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95360" y="2834640"/>
            <a:ext cx="73152" cy="1225296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96528" y="29992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</a:rPr>
              <a:t>0.8417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796528" y="35478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query expansion mAP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595360" y="4297680"/>
            <a:ext cx="260604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95360" y="4297680"/>
            <a:ext cx="64008" cy="132588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96528" y="4453128"/>
            <a:ext cx="2276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Best setting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796528" y="4828032"/>
            <a:ext cx="2276856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k = 3 · α =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Diffusion peaks at 0.8332.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Gallery; qualitative query-expansion example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694944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deployable retrieval layer—with clear limits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49040" y="6254496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30" b="1" spc="35" kern="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  ·  HUI-CHING CHUANG  ·  YUEH-HENG WU</a:t>
            </a:r>
            <a:endParaRPr lang="en-US" sz="73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3429000" cy="352044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17320"/>
            <a:ext cx="64008" cy="35204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1 · Supervision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947672"/>
            <a:ext cx="3099816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Patent identity turns multi-view drawings into strong positive pairs and avoids category-only shortcuts.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352044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1417320"/>
            <a:ext cx="64008" cy="3520440"/>
          </a:xfrm>
          <a:prstGeom prst="rect">
            <a:avLst/>
          </a:prstGeom>
          <a:solidFill>
            <a:srgbClr val="2166AC"/>
          </a:solidFill>
          <a:ln w="12700">
            <a:solidFill>
              <a:srgbClr val="2166A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2 · Scale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90288" y="1947672"/>
            <a:ext cx="3099816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High-resolution ConvNeXt features maintain useful precision in a 338k-image extended gallery.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417320"/>
            <a:ext cx="3429000" cy="352044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C9CD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38160" y="1417320"/>
            <a:ext cx="64008" cy="3520440"/>
          </a:xfrm>
          <a:prstGeom prst="rect">
            <a:avLst/>
          </a:prstGeom>
          <a:solidFill>
            <a:srgbClr val="188977"/>
          </a:solidFill>
          <a:ln w="12700">
            <a:solidFill>
              <a:srgbClr val="1889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39328" y="157276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3 · Next step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39328" y="1947672"/>
            <a:ext cx="3099816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470"/>
                </a:solidFill>
              </a:rPr>
              <a:t>Hard negatives, domain filtering, and examiner-centered evaluation remain essential.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5321808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11111"/>
                </a:solidFill>
              </a:rPr>
              <a:t>Bottom line: metric learning can narrow prior art; it does not replace legal judgment.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377440" y="6510528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5E6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Patent Similarity with ArcFace Metric Learning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92240"/>
            <a:ext cx="41148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5E64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Academic working paper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Patent Similarity with ArcFace Metric Learning</dc:title>
  <dc:subject>15-minute academic presentation</dc:subject>
  <dc:creator>Hui-Ching Chuang</dc:creator>
  <cp:lastModifiedBy>Hui-Ching Chuang</cp:lastModifiedBy>
  <cp:revision>1</cp:revision>
  <dcterms:created xsi:type="dcterms:W3CDTF">2026-08-26T03:19:58Z</dcterms:created>
  <dcterms:modified xsi:type="dcterms:W3CDTF">2026-08-26T03:19:58Z</dcterms:modified>
</cp:coreProperties>
</file>