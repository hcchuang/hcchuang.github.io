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46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6470"/>
                </a:solidFill>
              </a:rPr>
              <a:t>Department of Statistics, National Taipei University  ·  hcchuang@gm.ntpu.edu.tw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803904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151376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retrieval examples show success and hard negatives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47" y="1298448"/>
            <a:ext cx="7524105" cy="1389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5647" y="1298448"/>
            <a:ext cx="752410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49640" y="1298448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298448"/>
            <a:ext cx="64008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50808" y="14538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1 · exact recovery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50808" y="1828800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D0807117: all five retrieved views share the query patent ID.</a:t>
            </a:r>
            <a:endParaRPr lang="en-US" sz="1150" dirty="0"/>
          </a:p>
        </p:txBody>
      </p:sp>
      <p:pic>
        <p:nvPicPr>
          <p:cNvPr id="11" name="Image 1" descr="C:\Dropbox\Apps\Overleaf\ACM Conference Proceedings Primary Article Template\figure\Compare_D0806975_3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3" y="2889504"/>
            <a:ext cx="7534455" cy="13898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0473" y="2889504"/>
            <a:ext cx="753445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549640" y="2889504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49640" y="2889504"/>
            <a:ext cx="64008" cy="138988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50808" y="3044952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2 · exact recovery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750808" y="3419856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D0806975: all five retrieved views share the query patent ID.</a:t>
            </a:r>
            <a:endParaRPr lang="en-US" sz="1150" dirty="0"/>
          </a:p>
        </p:txBody>
      </p:sp>
      <p:pic>
        <p:nvPicPr>
          <p:cNvPr id="17" name="Image 2" descr="C:\Dropbox\Apps\Overleaf\ACM Conference Proceedings Primary Article Template\figure\Compare_D0808886_47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88" y="4480560"/>
            <a:ext cx="7432223" cy="138988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41588" y="4480560"/>
            <a:ext cx="7432223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549640" y="4480560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549640" y="4480560"/>
            <a:ext cx="64008" cy="13898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750808" y="4636008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3 · hard negative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750808" y="5010912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D0808886: visually close panels rank highly despite different patent IDs.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Gallery qualitative retrieval results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cosine cases expose the identity boundary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307592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(a) Same-patent success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44768" y="1307592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(b) High-confidence hard negative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Extreme_D0813840_idx95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26125"/>
            <a:ext cx="5468112" cy="1979285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Extreme_D0825156_idx1139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26125"/>
            <a:ext cx="5468112" cy="19792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4041648"/>
            <a:ext cx="10863072" cy="1307592"/>
          </a:xfrm>
          <a:prstGeom prst="roundRect">
            <a:avLst>
              <a:gd name="adj" fmla="val 2797"/>
            </a:avLst>
          </a:prstGeom>
          <a:solidFill>
            <a:srgbClr val="F2F3F5"/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96112" y="4270248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</a:rPr>
              <a:t>Figure 3: Extreme baseline cosine-similarity examples on the Standard Gallery. Each panel shows a query, its highest-similarity gallery item, and its lowest-similarity item. Panel (a) is a same-patent success; panel (b) is a high-confidence hard negative despite very high visual similarity.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baseline cosine similarity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PhotoLike filtering removes photographs before training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Representative photographic-style patents</a:t>
            </a:r>
            <a:endParaRPr lang="en-US" sz="1400" dirty="0"/>
          </a:p>
        </p:txBody>
      </p:sp>
      <p:pic>
        <p:nvPicPr>
          <p:cNvPr id="6" name="Image 0" descr="C:\Dropbox\Apps\Overleaf\ACM Conference Proceedings Primary Article Template\figure\photolike_s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060704" cy="10607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8" name="Image 1" descr="C:\Dropbox\Apps\Overleaf\ACM Conference Proceedings Primary Article Template\figure\photolike_s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376" y="1691640"/>
            <a:ext cx="1060704" cy="10607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865376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0" name="Image 2" descr="C:\Dropbox\Apps\Overleaf\ACM Conference Proceedings Primary Article Template\figure\photolike_s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91640"/>
            <a:ext cx="1060704" cy="1060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108960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2" name="Image 3" descr="C:\Dropbox\Apps\Overleaf\ACM Conference Proceedings Primary Article Template\figure\photolike_s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063240"/>
            <a:ext cx="1060704" cy="106070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21792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4" name="Image 4" descr="C:\Dropbox\Apps\Overleaf\ACM Conference Proceedings Primary Article Template\figure\photolike_sampl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5376" y="3063240"/>
            <a:ext cx="1060704" cy="106070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865376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6" name="Image 5" descr="C:\Dropbox\Apps\Overleaf\ACM Conference Proceedings Primary Article Template\figure\photolike_sample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3063240"/>
            <a:ext cx="1060704" cy="106070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08960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4572000" y="1298448"/>
            <a:ext cx="6967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Pixel-intensity entropy separates the domains</a:t>
            </a:r>
            <a:endParaRPr lang="en-US" sz="1400" dirty="0"/>
          </a:p>
        </p:txBody>
      </p:sp>
      <p:pic>
        <p:nvPicPr>
          <p:cNvPr id="19" name="Image 6" descr="C:\Dropbox\Apps\Overleaf\ACM Conference Proceedings Primary Article Template\figure\entropy_distribu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21" y="1627632"/>
            <a:ext cx="5897942" cy="279806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40080" y="46177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Line drawings are sparse and low-entropy; photographs contain richer shading and texture.</a:t>
            </a:r>
            <a:endParaRPr lang="en-US" sz="1500" dirty="0"/>
          </a:p>
        </p:txBody>
      </p:sp>
      <p:sp>
        <p:nvSpPr>
          <p:cNvPr id="21" name="Shape 12"/>
          <p:cNvSpPr/>
          <p:nvPr/>
        </p:nvSpPr>
        <p:spPr>
          <a:xfrm>
            <a:off x="5468112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5468112" y="4590288"/>
            <a:ext cx="64008" cy="932688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669280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Threshold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5669280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τ = 0.724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99% target recall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7498080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7498080" y="4590288"/>
            <a:ext cx="64008" cy="9326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7699248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Flagged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7699248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28,717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candidates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9528048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9528048" y="4590288"/>
            <a:ext cx="64008" cy="9326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9729216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Excluded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9729216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25,448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verified patents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Entropy filter calibrated on 2,504 labeled photographs and 25,000 line-drawing patents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Across the design hierarchy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99632" y="129844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Within one subclass (D14/299)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76914"/>
            <a:ext cx="5532120" cy="3668764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Within_Subclass_Cosine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955" y="1627632"/>
            <a:ext cx="4354595" cy="3767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596128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</a:rPr>
              <a:t>Same-patent views cluster strongly—even when every candidate shares the same subclass.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evidence across and within design classes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· HUI-CHING CHUANG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Promotes same-patent views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44768" y="1298448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Suppresses visual distractors</a:t>
            </a:r>
            <a:endParaRPr lang="en-US" sz="1500" dirty="0"/>
          </a:p>
        </p:txBody>
      </p:sp>
      <p:pic>
        <p:nvPicPr>
          <p:cNvPr id="7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53635"/>
            <a:ext cx="5440680" cy="1996251"/>
          </a:xfrm>
          <a:prstGeom prst="rect">
            <a:avLst/>
          </a:prstGeom>
        </p:spPr>
      </p:pic>
      <p:pic>
        <p:nvPicPr>
          <p:cNvPr id="8" name="Image 1" descr="C:\Dropbox\Apps\Overleaf\ACM Conference Proceedings Primary Article Template\figure\QE_Success_D083002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653635"/>
            <a:ext cx="5440680" cy="19962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60120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60120" y="4041648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161288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1161288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90288" y="4041648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90288" y="4041648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791456" y="42062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4791456" y="4754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229600" y="4041648"/>
            <a:ext cx="2971800" cy="1225296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0" y="4041648"/>
            <a:ext cx="64008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30768" y="41970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430768" y="4572000"/>
            <a:ext cx="26426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96012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Neighborhood agreement improves the ranking, but the benefit depends on the query.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two qualitative query-expansion examples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2026-08-26T03:34:16Z</dcterms:created>
  <dcterms:modified xsi:type="dcterms:W3CDTF">2026-08-26T03:34:16Z</dcterms:modified>
</cp:coreProperties>
</file>