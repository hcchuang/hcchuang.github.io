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C9CD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0" kern="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PAPER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E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E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498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6B35"/>
                </a:solidFill>
              </a:rPr>
              <a:t>FOMC COMMUNICATION AND ASSET PRICES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1261872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11111"/>
                </a:solidFill>
              </a:rPr>
              <a:t>Hawkish by Voice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58368" y="28803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6470"/>
                </a:solidFill>
              </a:rPr>
              <a:t>Yueh-Heng Wu · Hui-Ching Chuang · Ju-Fang Yen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33467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470"/>
                </a:solidFill>
              </a:rPr>
              <a:t>Department of Statistics, National Taipei University  ·  hcchuang@gm.ntpu.edu.tw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3803904"/>
            <a:ext cx="182880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4151376"/>
            <a:ext cx="8961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11111"/>
                </a:solidFill>
              </a:rPr>
              <a:t>Holding the words fixed, the way Q&amp;A sounds contains market-relevant information.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58368" y="58521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E6470"/>
                </a:solidFill>
              </a:rPr>
              <a:t>15-MINUTE RESEARCH TALK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E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markets react to how the FOMC sounds?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749040" y="625449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b="1" spc="35" kern="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HAWKISH BY VOICE: FINANCIAL MARKET REACTIONS TO FOMC COMMUNICATION  ·  HUI-CHING CHUANG</a:t>
            </a:r>
            <a:endParaRPr lang="en-US" sz="730" dirty="0"/>
          </a:p>
        </p:txBody>
      </p:sp>
      <p:sp>
        <p:nvSpPr>
          <p:cNvPr id="5" name="Shape 3"/>
          <p:cNvSpPr/>
          <p:nvPr/>
        </p:nvSpPr>
        <p:spPr>
          <a:xfrm>
            <a:off x="685800" y="1554480"/>
            <a:ext cx="4892040" cy="3520440"/>
          </a:xfrm>
          <a:prstGeom prst="roundRect">
            <a:avLst>
              <a:gd name="adj" fmla="val 1558"/>
            </a:avLst>
          </a:prstGeom>
          <a:solidFill>
            <a:srgbClr val="EDF4FB"/>
          </a:solidFill>
          <a:ln w="12700">
            <a:solidFill>
              <a:srgbClr val="B8D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0116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166AC"/>
                </a:solidFill>
              </a:rPr>
              <a:t>Same words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1005840" y="2788920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111111"/>
                </a:solidFill>
              </a:rPr>
              <a:t>“Inflation remains elevated.”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05840" y="40690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470"/>
                </a:solidFill>
              </a:rPr>
              <a:t>Text-based tone is held constant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15584" y="2971800"/>
            <a:ext cx="402336" cy="310896"/>
          </a:xfrm>
          <a:prstGeom prst="chevro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554480"/>
            <a:ext cx="4892040" cy="3520440"/>
          </a:xfrm>
          <a:prstGeom prst="roundRect">
            <a:avLst>
              <a:gd name="adj" fmla="val 1558"/>
            </a:avLst>
          </a:prstGeom>
          <a:solidFill>
            <a:srgbClr val="FFF1EB"/>
          </a:solidFill>
          <a:ln w="12700">
            <a:solidFill>
              <a:srgbClr val="F4B6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20116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6B35"/>
                </a:solidFill>
              </a:rPr>
              <a:t>Different delivery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6766560" y="2788920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1111"/>
                </a:solidFill>
              </a:rPr>
              <a:t>Human voice  −  same-text TTS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812280" y="39776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470"/>
                </a:solidFill>
              </a:rPr>
              <a:t>The difference isolates non-textual delivery signals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54406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</a:rPr>
              <a:t>Voice gap = net hawkishness(human) − net hawkishness(TTS)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37744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 identification: exact-text human–TTS comparison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E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sentence is paired with itself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749040" y="625449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b="1" spc="35" kern="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HAWKISH BY VOICE: FINANCIAL MARKET REACTIONS TO FOMC COMMUNICATION  ·  HUI-CHING CHUANG</a:t>
            </a:r>
            <a:endParaRPr lang="en-US" sz="730" dirty="0"/>
          </a:p>
        </p:txBody>
      </p:sp>
      <p:sp>
        <p:nvSpPr>
          <p:cNvPr id="5" name="Shape 3"/>
          <p:cNvSpPr/>
          <p:nvPr/>
        </p:nvSpPr>
        <p:spPr>
          <a:xfrm>
            <a:off x="2468880" y="2788920"/>
            <a:ext cx="201168" cy="310896"/>
          </a:xfrm>
          <a:prstGeom prst="chevron">
            <a:avLst/>
          </a:prstGeom>
          <a:solidFill>
            <a:srgbClr val="5E6470"/>
          </a:solidFill>
          <a:ln w="12700">
            <a:solidFill>
              <a:srgbClr val="5E64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28032" y="2788920"/>
            <a:ext cx="201168" cy="310896"/>
          </a:xfrm>
          <a:prstGeom prst="chevron">
            <a:avLst/>
          </a:prstGeom>
          <a:solidFill>
            <a:srgbClr val="5E6470"/>
          </a:solidFill>
          <a:ln w="12700">
            <a:solidFill>
              <a:srgbClr val="5E64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78624" y="2788920"/>
            <a:ext cx="201168" cy="310896"/>
          </a:xfrm>
          <a:prstGeom prst="chevron">
            <a:avLst/>
          </a:prstGeom>
          <a:solidFill>
            <a:srgbClr val="5E6470"/>
          </a:solidFill>
          <a:ln w="12700">
            <a:solidFill>
              <a:srgbClr val="5E64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37192" y="2788920"/>
            <a:ext cx="201168" cy="310896"/>
          </a:xfrm>
          <a:prstGeom prst="chevron">
            <a:avLst/>
          </a:prstGeom>
          <a:solidFill>
            <a:srgbClr val="5E6470"/>
          </a:solidFill>
          <a:ln w="12700">
            <a:solidFill>
              <a:srgbClr val="5E64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011680"/>
            <a:ext cx="1874520" cy="1664208"/>
          </a:xfrm>
          <a:prstGeom prst="roundRect">
            <a:avLst>
              <a:gd name="adj" fmla="val 3297"/>
            </a:avLst>
          </a:prstGeom>
          <a:solidFill>
            <a:srgbClr val="F2F3F5"/>
          </a:solidFill>
          <a:ln w="13970">
            <a:solidFill>
              <a:srgbClr val="C9CD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774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11111"/>
                </a:solidFill>
              </a:rPr>
              <a:t>FOMC audio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12648" y="2971800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470"/>
                </a:solidFill>
              </a:rPr>
              <a:t>statement + Q&amp;A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61488" y="2011680"/>
            <a:ext cx="1965960" cy="1664208"/>
          </a:xfrm>
          <a:prstGeom prst="roundRect">
            <a:avLst>
              <a:gd name="adj" fmla="val 3297"/>
            </a:avLst>
          </a:prstGeom>
          <a:solidFill>
            <a:srgbClr val="F2F3F5"/>
          </a:solidFill>
          <a:ln w="13970">
            <a:solidFill>
              <a:srgbClr val="C9CD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52928" y="237744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11111"/>
                </a:solidFill>
              </a:rPr>
              <a:t>ASR alignment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2871216" y="2971800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470"/>
                </a:solidFill>
              </a:rPr>
              <a:t>sentence timestamps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20640" y="2011680"/>
            <a:ext cx="2057400" cy="1664208"/>
          </a:xfrm>
          <a:prstGeom prst="roundRect">
            <a:avLst>
              <a:gd name="adj" fmla="val 3297"/>
            </a:avLst>
          </a:prstGeom>
          <a:solidFill>
            <a:srgbClr val="F2F3F5"/>
          </a:solidFill>
          <a:ln w="13970">
            <a:solidFill>
              <a:srgbClr val="C9CD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37744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11111"/>
                </a:solidFill>
              </a:rPr>
              <a:t>Text labels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230368" y="2971800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470"/>
                </a:solidFill>
              </a:rPr>
              <a:t>FOMC-RoBERTa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571232" y="2011680"/>
            <a:ext cx="1874520" cy="1664208"/>
          </a:xfrm>
          <a:prstGeom prst="roundRect">
            <a:avLst>
              <a:gd name="adj" fmla="val 3297"/>
            </a:avLst>
          </a:prstGeom>
          <a:solidFill>
            <a:srgbClr val="FFF1EB"/>
          </a:solidFill>
          <a:ln w="1397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62672" y="23774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11111"/>
                </a:solidFill>
              </a:rPr>
              <a:t>WavLM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680960" y="2971800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470"/>
                </a:solidFill>
              </a:rPr>
              <a:t>voice hawkishness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829800" y="2011680"/>
            <a:ext cx="1874520" cy="1664208"/>
          </a:xfrm>
          <a:prstGeom prst="roundRect">
            <a:avLst>
              <a:gd name="adj" fmla="val 3297"/>
            </a:avLst>
          </a:prstGeom>
          <a:solidFill>
            <a:srgbClr val="F2F3F5"/>
          </a:solidFill>
          <a:ln w="13970">
            <a:solidFill>
              <a:srgbClr val="C9CD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21240" y="23774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11111"/>
                </a:solidFill>
              </a:rPr>
              <a:t>Same-text TTS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939528" y="2971800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470"/>
                </a:solidFill>
              </a:rPr>
              <a:t>counterfactual voice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4400" y="4389120"/>
            <a:ext cx="48006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4389120"/>
            <a:ext cx="64008" cy="1097280"/>
          </a:xfrm>
          <a:prstGeom prst="rect">
            <a:avLst/>
          </a:prstGeom>
          <a:solidFill>
            <a:srgbClr val="2166AC"/>
          </a:solidFill>
          <a:ln w="12700">
            <a:solidFill>
              <a:srgbClr val="2166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5568" y="4544568"/>
            <a:ext cx="4471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What is held fixed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15568" y="4919472"/>
            <a:ext cx="447141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The words, sentence boundaries, and underlying semantic content.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46520" y="4389120"/>
            <a:ext cx="48006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4389120"/>
            <a:ext cx="64008" cy="109728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47688" y="4544568"/>
            <a:ext cx="4471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What the gap can include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47688" y="4919472"/>
            <a:ext cx="447141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Delivery plus speaker composition in the interactive Q&amp;A—not only the chair.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37744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Human–TTS paired-sentence design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E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AND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 press conferences yield 35,619 paired sentences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749040" y="625449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b="1" spc="35" kern="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HAWKISH BY VOICE: FINANCIAL MARKET REACTIONS TO FOMC COMMUNICATION  ·  HUI-CHING CHUANG</a:t>
            </a:r>
            <a:endParaRPr lang="en-US" sz="73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2606040" cy="1225296"/>
          </a:xfrm>
          <a:prstGeom prst="roundRect">
            <a:avLst>
              <a:gd name="adj" fmla="val 4478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73152" cy="122529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58191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89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95528" y="21305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press conferences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1417320"/>
            <a:ext cx="2606040" cy="1225296"/>
          </a:xfrm>
          <a:prstGeom prst="roundRect">
            <a:avLst>
              <a:gd name="adj" fmla="val 4478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417320"/>
            <a:ext cx="73152" cy="1225296"/>
          </a:xfrm>
          <a:prstGeom prst="rect">
            <a:avLst/>
          </a:prstGeom>
          <a:solidFill>
            <a:srgbClr val="2166AC"/>
          </a:solidFill>
          <a:ln w="12700">
            <a:solidFill>
              <a:srgbClr val="2166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0168" y="158191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35,619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30168" y="21305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clean sentences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417320"/>
            <a:ext cx="2606040" cy="1225296"/>
          </a:xfrm>
          <a:prstGeom prst="roundRect">
            <a:avLst>
              <a:gd name="adj" fmla="val 4478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417320"/>
            <a:ext cx="73152" cy="1225296"/>
          </a:xfrm>
          <a:prstGeom prst="rect">
            <a:avLst/>
          </a:prstGeom>
          <a:solidFill>
            <a:srgbClr val="188977"/>
          </a:solidFill>
          <a:ln w="12700">
            <a:solidFill>
              <a:srgbClr val="1889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158191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30,671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64808" y="21305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Q&amp;A sentences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98280" y="1417320"/>
            <a:ext cx="2468880" cy="1225296"/>
          </a:xfrm>
          <a:prstGeom prst="roundRect">
            <a:avLst>
              <a:gd name="adj" fmla="val 4478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98280" y="1417320"/>
            <a:ext cx="73152" cy="1225296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99448" y="158191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2011–25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299448" y="213055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sample window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8368" y="3154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</a:rPr>
              <a:t>Held-out speech classification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40080" y="3749040"/>
            <a:ext cx="3291840" cy="1225296"/>
          </a:xfrm>
          <a:prstGeom prst="roundRect">
            <a:avLst>
              <a:gd name="adj" fmla="val 4478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749040"/>
            <a:ext cx="73152" cy="122529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3913632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0.9125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41248" y="446227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pooled AUC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206240" y="3749040"/>
            <a:ext cx="3291840" cy="1225296"/>
          </a:xfrm>
          <a:prstGeom prst="roundRect">
            <a:avLst>
              <a:gd name="adj" fmla="val 4478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6240" y="3749040"/>
            <a:ext cx="73152" cy="1225296"/>
          </a:xfrm>
          <a:prstGeom prst="rect">
            <a:avLst/>
          </a:prstGeom>
          <a:solidFill>
            <a:srgbClr val="2166AC"/>
          </a:solidFill>
          <a:ln w="12700">
            <a:solidFill>
              <a:srgbClr val="2166A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07408" y="3913632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0.8362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407408" y="446227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accuracy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772400" y="3749040"/>
            <a:ext cx="3291840" cy="1225296"/>
          </a:xfrm>
          <a:prstGeom prst="roundRect">
            <a:avLst>
              <a:gd name="adj" fmla="val 4478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0" y="3749040"/>
            <a:ext cx="73152" cy="1225296"/>
          </a:xfrm>
          <a:prstGeom prst="rect">
            <a:avLst/>
          </a:prstGeom>
          <a:solidFill>
            <a:srgbClr val="188977"/>
          </a:solidFill>
          <a:ln w="12700">
            <a:solidFill>
              <a:srgbClr val="1889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73568" y="3913632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0.8362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973568" y="446227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macro F1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37744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WavLM-Large cross-validation and corpus statistics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E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GAP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Q&amp;A is modestly more hawkish than TTS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749040" y="625449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b="1" spc="35" kern="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HAWKISH BY VOICE: FINANCIAL MARKET REACTIONS TO FOMC COMMUNICATION  ·  HUI-CHING CHUANG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</a:rPr>
              <a:t>Sentence level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46520" y="148132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</a:rPr>
              <a:t>Meeting level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4983480" cy="3337560"/>
          </a:xfrm>
          <a:prstGeom prst="roundRect">
            <a:avLst>
              <a:gd name="adj" fmla="val 137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49631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6470"/>
                </a:solidFill>
              </a:rPr>
              <a:t>Human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64208" y="2423160"/>
            <a:ext cx="3714750" cy="5303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01184" y="256946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0.4225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33558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6470"/>
                </a:solidFill>
              </a:rPr>
              <a:t>TTS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64208" y="3282696"/>
            <a:ext cx="3626827" cy="530352"/>
          </a:xfrm>
          <a:prstGeom prst="rect">
            <a:avLst/>
          </a:prstGeom>
          <a:solidFill>
            <a:srgbClr val="2166AC"/>
          </a:solidFill>
          <a:ln w="12700">
            <a:solidFill>
              <a:srgbClr val="2166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34290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0.4125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42062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</a:rPr>
              <a:t>Gap = 0.0100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46120" y="4251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t = 9.94***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0" y="1965960"/>
            <a:ext cx="4983480" cy="3337560"/>
          </a:xfrm>
          <a:prstGeom prst="roundRect">
            <a:avLst>
              <a:gd name="adj" fmla="val 137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249631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6470"/>
                </a:solidFill>
              </a:rPr>
              <a:t>Human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24928" y="2423160"/>
            <a:ext cx="4034790" cy="5303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61904" y="256946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0.4589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56832" y="33558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6470"/>
                </a:solidFill>
              </a:rPr>
              <a:t>TTS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24928" y="3282696"/>
            <a:ext cx="3929282" cy="530352"/>
          </a:xfrm>
          <a:prstGeom prst="rect">
            <a:avLst/>
          </a:prstGeom>
          <a:solidFill>
            <a:srgbClr val="2166AC"/>
          </a:solidFill>
          <a:ln w="12700">
            <a:solidFill>
              <a:srgbClr val="2166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61904" y="34290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0.4469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20840" y="42062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</a:rPr>
              <a:t>Gap = 0.0120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06840" y="4251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t = 2.24**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37744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Paired Q&amp;A estimates; ** p&lt;0.05, *** p&lt;0.01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E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RESPONSE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Treasury sensitivity rises with maturity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749040" y="625449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b="1" spc="35" kern="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HAWKISH BY VOICE: FINANCIAL MARKET REACTIONS TO FOMC COMMUNICATION  ·  HUI-CHING CHUANG</a:t>
            </a:r>
            <a:endParaRPr lang="en-US" sz="730" dirty="0"/>
          </a:p>
        </p:txBody>
      </p:sp>
      <p:sp>
        <p:nvSpPr>
          <p:cNvPr id="5" name="Shape 3"/>
          <p:cNvSpPr/>
          <p:nvPr/>
        </p:nvSpPr>
        <p:spPr>
          <a:xfrm>
            <a:off x="914400" y="5532120"/>
            <a:ext cx="996696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4699000"/>
            <a:ext cx="9966960" cy="0"/>
          </a:xfrm>
          <a:prstGeom prst="line">
            <a:avLst/>
          </a:prstGeom>
          <a:noFill/>
          <a:ln w="6350">
            <a:solidFill>
              <a:srgbClr val="C9CD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6075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470"/>
                </a:solidFill>
              </a:rPr>
              <a:t>0.01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3865880"/>
            <a:ext cx="9966960" cy="0"/>
          </a:xfrm>
          <a:prstGeom prst="line">
            <a:avLst/>
          </a:prstGeom>
          <a:noFill/>
          <a:ln w="6350">
            <a:solidFill>
              <a:srgbClr val="C9CD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37744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470"/>
                </a:solidFill>
              </a:rPr>
              <a:t>0.02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3032760"/>
            <a:ext cx="9966960" cy="0"/>
          </a:xfrm>
          <a:prstGeom prst="line">
            <a:avLst/>
          </a:prstGeom>
          <a:noFill/>
          <a:ln w="6350">
            <a:solidFill>
              <a:srgbClr val="C9CD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9413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470"/>
                </a:solidFill>
              </a:rPr>
              <a:t>0.03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14400" y="2199640"/>
            <a:ext cx="9966960" cy="0"/>
          </a:xfrm>
          <a:prstGeom prst="line">
            <a:avLst/>
          </a:prstGeom>
          <a:noFill/>
          <a:ln w="6350">
            <a:solidFill>
              <a:srgbClr val="C9CD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1082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470"/>
                </a:solidFill>
              </a:rPr>
              <a:t>0.04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417320" y="5115560"/>
            <a:ext cx="1325880" cy="416560"/>
          </a:xfrm>
          <a:prstGeom prst="rect">
            <a:avLst/>
          </a:prstGeom>
          <a:solidFill>
            <a:srgbClr val="2166AC"/>
          </a:solidFill>
          <a:ln w="12700">
            <a:solidFill>
              <a:srgbClr val="2166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482295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0.005*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56418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SHY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931920" y="4532376"/>
            <a:ext cx="1325880" cy="999744"/>
          </a:xfrm>
          <a:prstGeom prst="rect">
            <a:avLst/>
          </a:prstGeom>
          <a:solidFill>
            <a:srgbClr val="2166AC"/>
          </a:solidFill>
          <a:ln w="12700">
            <a:solidFill>
              <a:srgbClr val="2166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423976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0.012**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0" y="56418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IEI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46520" y="3865880"/>
            <a:ext cx="1325880" cy="1666240"/>
          </a:xfrm>
          <a:prstGeom prst="rect">
            <a:avLst/>
          </a:prstGeom>
          <a:solidFill>
            <a:srgbClr val="2166AC"/>
          </a:solidFill>
          <a:ln w="12700">
            <a:solidFill>
              <a:srgbClr val="2166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57327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0.020**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55080" y="56418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IEF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961120" y="2199640"/>
            <a:ext cx="1325880" cy="3332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0" y="190703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0.040***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869680" y="56418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TLT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156448" y="1371600"/>
            <a:ext cx="2834640" cy="310896"/>
          </a:xfrm>
          <a:prstGeom prst="roundRect">
            <a:avLst>
              <a:gd name="adj" fmla="val 23529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0456" y="1435608"/>
            <a:ext cx="2706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CAR[0,1] · HUMAN − TTS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" y="6062472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470"/>
                </a:solidFill>
              </a:rPr>
              <a:t>A 0.01 increase in the voice gap is associated with a larger two-day return at longer maturities.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37744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coefficients with standard controls; 89 meetings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E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effect is stable across design choices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749040" y="625449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b="1" spc="35" kern="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HAWKISH BY VOICE: FINANCIAL MARKET REACTIONS TO FOMC COMMUNICATION  ·  HUI-CHING CHUANG</a:t>
            </a:r>
            <a:endParaRPr lang="en-US" sz="730" dirty="0"/>
          </a:p>
        </p:txBody>
      </p:sp>
      <p:pic>
        <p:nvPicPr>
          <p:cNvPr id="5" name="Image 0" descr="C:\Dropbox\Apps\Overleaf\FOMCVoice\figures\fig06_qa_ds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8092440" cy="4709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325880"/>
            <a:ext cx="8092440" cy="470916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9CDD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979408" y="1417320"/>
            <a:ext cx="251460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9408" y="1417320"/>
            <a:ext cx="64008" cy="1234440"/>
          </a:xfrm>
          <a:prstGeom prst="rect">
            <a:avLst/>
          </a:prstGeom>
          <a:solidFill>
            <a:srgbClr val="2166AC"/>
          </a:solidFill>
          <a:ln w="12700">
            <a:solidFill>
              <a:srgbClr val="2166A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80576" y="1572768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Across thresholds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80576" y="1947672"/>
            <a:ext cx="218541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Signs persist across alternative high-confidence cutoffs.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979408" y="2880360"/>
            <a:ext cx="251460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979408" y="2880360"/>
            <a:ext cx="64008" cy="1234440"/>
          </a:xfrm>
          <a:prstGeom prst="rect">
            <a:avLst/>
          </a:prstGeom>
          <a:solidFill>
            <a:srgbClr val="188977"/>
          </a:solidFill>
          <a:ln w="12700">
            <a:solidFill>
              <a:srgbClr val="18897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80576" y="3035808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Across windows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80576" y="3410712"/>
            <a:ext cx="218541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Results are visible beyond one event-window choice.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979408" y="4343400"/>
            <a:ext cx="251460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79408" y="4343400"/>
            <a:ext cx="64008" cy="12344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80576" y="4498848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Across assets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180576" y="4873752"/>
            <a:ext cx="218541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The strongest unconditional pattern is in Treasuries.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237744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Human–TTS coefficient heatmap across assets, thresholds, and windows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E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DEPENDENCE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uncertainty redirects the response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749040" y="625449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b="1" spc="35" kern="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HAWKISH BY VOICE: FINANCIAL MARKET REACTIONS TO FOMC COMMUNICATION  ·  HUI-CHING CHUANG</a:t>
            </a:r>
            <a:endParaRPr lang="en-US" sz="730" dirty="0"/>
          </a:p>
        </p:txBody>
      </p:sp>
      <p:pic>
        <p:nvPicPr>
          <p:cNvPr id="5" name="Image 0" descr="C:\Dropbox\Apps\Overleaf\FOMCVoice\figures\fig07_qa_dsepu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90956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325880"/>
            <a:ext cx="7909560" cy="475488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9CDD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732520" y="1371600"/>
            <a:ext cx="2697480" cy="1225296"/>
          </a:xfrm>
          <a:prstGeom prst="roundRect">
            <a:avLst>
              <a:gd name="adj" fmla="val 4478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32520" y="1371600"/>
            <a:ext cx="73152" cy="1225296"/>
          </a:xfrm>
          <a:prstGeom prst="rect">
            <a:avLst/>
          </a:prstGeom>
          <a:solidFill>
            <a:srgbClr val="188977"/>
          </a:solidFill>
          <a:ln w="12700">
            <a:solidFill>
              <a:srgbClr val="18897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33688" y="153619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+0.0003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933688" y="20848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SPY × EPU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732520" y="2788920"/>
            <a:ext cx="2697480" cy="1225296"/>
          </a:xfrm>
          <a:prstGeom prst="roundRect">
            <a:avLst>
              <a:gd name="adj" fmla="val 4478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732520" y="2788920"/>
            <a:ext cx="73152" cy="122529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33688" y="295351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−0.058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933688" y="35021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VIX × EPU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732520" y="4206240"/>
            <a:ext cx="2697480" cy="1225296"/>
          </a:xfrm>
          <a:prstGeom prst="roundRect">
            <a:avLst>
              <a:gd name="adj" fmla="val 4478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732520" y="4206240"/>
            <a:ext cx="73152" cy="1225296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33688" y="437083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−0.163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8933688" y="49194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VVIX × EPU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237744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of Human–TTS gap with economic policy uncertainty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E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matters, but the estimand is broader than the chair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749040" y="625449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b="1" spc="35" kern="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HAWKISH BY VOICE: FINANCIAL MARKET REACTIONS TO FOMC COMMUNICATION  ·  HUI-CHING CHUANG</a:t>
            </a:r>
            <a:endParaRPr lang="en-US" sz="73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429000" cy="35661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64008" cy="35661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72768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What we learn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1947672"/>
            <a:ext cx="3099816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Markets respond to non-textual information embedded in live FOMC Q&amp;A, even after fixing the words.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429000" cy="35661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417320"/>
            <a:ext cx="64008" cy="356616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572768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What we do not claim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90288" y="1947672"/>
            <a:ext cx="3099816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The coefficient is not a causal chair-only voice effect; reporters, moderator, and interaction matter.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417320"/>
            <a:ext cx="3429000" cy="35661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417320"/>
            <a:ext cx="64008" cy="3566160"/>
          </a:xfrm>
          <a:prstGeom prst="rect">
            <a:avLst/>
          </a:prstGeom>
          <a:solidFill>
            <a:srgbClr val="188977"/>
          </a:solidFill>
          <a:ln w="12700">
            <a:solidFill>
              <a:srgbClr val="1889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1572768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39328" y="1947672"/>
            <a:ext cx="3099816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Communication measurement should be multimodal—and evaluated against economic outcomes.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5376672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1111"/>
                </a:solidFill>
              </a:rPr>
              <a:t>Bottom line: text and delivery are distinct channels of monetary-policy communication.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37744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Hawkish by Voice: Financial Market Reactions to FOMC Communication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E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Academic working paper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Hawkish by Voice: Financial Market Reactions to FOMC Communication</dc:title>
  <dc:subject>15-minute academic presentation</dc:subject>
  <dc:creator>Hui-Ching Chuang</dc:creator>
  <cp:lastModifiedBy>Hui-Ching Chuang</cp:lastModifiedBy>
  <cp:revision>1</cp:revision>
  <dcterms:created xsi:type="dcterms:W3CDTF">2026-08-26T02:42:35Z</dcterms:created>
  <dcterms:modified xsi:type="dcterms:W3CDTF">2026-08-26T02:42:35Z</dcterms:modified>
</cp:coreProperties>
</file>